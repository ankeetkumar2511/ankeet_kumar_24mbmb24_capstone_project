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C624DD-2346-4C26-8DF6-0B05F40D2A44}">
  <a:tblStyle styleId="{15C624DD-2346-4C26-8DF6-0B05F40D2A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Lato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67" y="19050"/>
            <a:ext cx="12172950" cy="68389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85486" y="780712"/>
            <a:ext cx="8220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</a:rPr>
              <a:t>Harnessing Big Data for Smarter User Recommendations in OTT Platforms</a:t>
            </a:r>
            <a:endParaRPr b="1" sz="390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94550" y="6468537"/>
            <a:ext cx="7829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Leveraging PySpark &amp; MLlib for User Behavior Insights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7700" y="4284525"/>
            <a:ext cx="2743200" cy="21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Ankeet Kumar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24MBMB24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MBA BA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238225" y="4863500"/>
            <a:ext cx="2641500" cy="1077600"/>
          </a:xfrm>
          <a:prstGeom prst="rect">
            <a:avLst/>
          </a:prstGeom>
          <a:solidFill>
            <a:srgbClr val="182B3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Submitted To -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Sree Laxmi Mam </a:t>
            </a:r>
            <a:r>
              <a:rPr lang="en-US" sz="23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3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2238" y="2141388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0463" y="21413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71637"/>
            <a:ext cx="5276850" cy="4467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71637"/>
            <a:ext cx="5276850" cy="44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71550" y="2062162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Dataset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71550" y="2690812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project is built on a dataset of 1,000 user records from a fictional OTT streaming service.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71550" y="3719512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Key Features: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2062162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24650" y="2690812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primary goal was to leverage the PySpark MLlib library to derive actionable business insights.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24650" y="3719512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Key Tasks: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14425" y="41481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209675" y="414813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Demographics: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Age, Gender, Region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14425" y="45481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09675" y="454818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Subscription: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Plan, Monthly Spend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14425" y="4948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09675" y="494823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Engagement: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Watch Hours, Sessions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114425" y="53482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209675" y="534828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Feedback: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Avg. Rating, Sentiment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67525" y="41481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962775" y="414813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Perform Exploratory Data Analysis (EDA).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67525" y="45481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962775" y="454818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Case 1: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Predict Customer Churn.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67525" y="4948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962775" y="494823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Case 2: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Segment users into distinct groups.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867525" y="53482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962775" y="5348287"/>
            <a:ext cx="4257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Case 3/4: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Forecast Revenue &amp; Watch Time.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Dataset &amp; Project Objectives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33525"/>
            <a:ext cx="110299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132582" y="4800600"/>
            <a:ext cx="992683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Finding:</a:t>
            </a: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Higher subscription tiers correlate with higher engagement (Avg. Watch Hours). The 'Free' tier has a </a:t>
            </a:r>
            <a:r>
              <a:rPr b="1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20.4% churn rate</a:t>
            </a: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while the 'Premium' tier has only a </a:t>
            </a:r>
            <a:r>
              <a:rPr b="1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2.3% churn rate</a:t>
            </a: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Key Insight from EDA: The "Value Ladder"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33" y="2663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62162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2062162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Goal: Identify At-Risk Users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2690812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first objective was to build a model that can predict which users are likely to churn (cancel their subscription).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23900" y="33766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19150" y="3376612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Random Forest Classifier.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23900" y="37766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19150" y="3776662"/>
            <a:ext cx="5038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Challenge: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data is highly imbalanced (913 non-churners vs. 87 churners). This means 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'accuracy'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a misleading metric.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23900" y="44338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19150" y="4433887"/>
            <a:ext cx="5038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Key Metric: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</a:t>
            </a:r>
            <a:r>
              <a:rPr b="1"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F1-score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was used, as it provides a better measure of a model's performance on imbalanced data.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23900" y="50911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19150" y="5091112"/>
            <a:ext cx="5038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model achieved a strong </a:t>
            </a:r>
            <a:r>
              <a:rPr b="1"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F1 score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 88.8%</a:t>
            </a:r>
            <a:r>
              <a:rPr b="1"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indicating it is effective at correctly identifying users who are likely to churn.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71687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Use Case 1: Churn Prediction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33525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81025" y="1533525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Goal: Group Users by Behavior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581025" y="2162175"/>
            <a:ext cx="5277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second objective was to automatically group users into meaningful segments based on their spending and 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watching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habits.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23900" y="28479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19150" y="28479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Decision Tree Classifier.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23900" y="3248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19150" y="3248025"/>
            <a:ext cx="5038725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Segments Defined: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23900" y="47053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19150" y="4705350"/>
            <a:ext cx="5038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model classified users with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89.4% </a:t>
            </a:r>
            <a:r>
              <a:rPr b="1"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accuracy.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23900" y="51054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19150" y="5105400"/>
            <a:ext cx="50387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Actionable Insight: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**'Engaged Low Spender'** segment is a key business opportunity. These users love the content and can be targeted with upsell campaigns to convert them to higher-revenue plans.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27968" r="28717" t="0"/>
          <a:stretch/>
        </p:blipFill>
        <p:spPr>
          <a:xfrm rot="5400000">
            <a:off x="7814350" y="1543050"/>
            <a:ext cx="22773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962025" y="35052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57275" y="3505200"/>
            <a:ext cx="4800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Premium: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High spend, high watch time.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62025" y="3905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57275" y="3905250"/>
            <a:ext cx="4800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Engaged Low Spender: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Low spend, high watch time.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62025" y="43053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57275" y="4305300"/>
            <a:ext cx="4800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Low Value: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Low spend, low watch time.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Use Case 2: User Segmentation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71650"/>
            <a:ext cx="52768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71650"/>
            <a:ext cx="52768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971550" y="2162175"/>
            <a:ext cx="4720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Revenue Prediction (Linear Regression)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71550" y="3248025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attempt was made to predict the specific `Monthly_Spend_USD` for a user.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71550" y="4276725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Result: R-squared of 0.09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71550" y="4705350"/>
            <a:ext cx="449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Finding: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The model has almost no predictive power. This suggests 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spending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determined by the *fixed subscription plan* a user chooses, not by their watch behavior.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724650" y="2162175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Watch Time Prediction (GBT)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724650" y="2790825"/>
            <a:ext cx="4495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Gradient Boosted Trees model was used to predict `Total_Watch_Hours_90`.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724650" y="3819525"/>
            <a:ext cx="449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Result: R-squared of -0.28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724650" y="4248150"/>
            <a:ext cx="449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Finding: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negative R-squared means the model performed *worse* than a simple average. This proves that predicting future watch time is highly complex and would require more advanced features (e.g., watch history, time-series data).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Use Cases 3 &amp; 4: Regression Analysis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33525"/>
            <a:ext cx="11029950" cy="4743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19"/>
          <p:cNvGraphicFramePr/>
          <p:nvPr/>
        </p:nvGraphicFramePr>
        <p:xfrm>
          <a:off x="581025" y="1933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{15C624DD-2346-4C26-8DF6-0B05F40D2A44}</a:tableStyleId>
              </a:tblPr>
              <a:tblGrid>
                <a:gridCol w="2413700"/>
                <a:gridCol w="3993500"/>
                <a:gridCol w="2311300"/>
                <a:gridCol w="2311450"/>
              </a:tblGrid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 Task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Key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1F5F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Classification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 (Churn)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0.888 (Strong)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Classification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 Tree (Segment)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0.894 (Strong)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Regression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 Regression (Revenue)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R-squared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0.093 (Poor)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Regression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GBT Regressor (Watch Time)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R-squared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-0.286 (Poor)</a:t>
                      </a:r>
                      <a:endParaRPr>
                        <a:solidFill>
                          <a:srgbClr val="1E293B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19"/>
          <p:cNvSpPr/>
          <p:nvPr/>
        </p:nvSpPr>
        <p:spPr>
          <a:xfrm>
            <a:off x="581025" y="2557462"/>
            <a:ext cx="241369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994719" y="2557462"/>
            <a:ext cx="39935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988224" y="2557462"/>
            <a:ext cx="23113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9299525" y="2557462"/>
            <a:ext cx="23114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81025" y="3167062"/>
            <a:ext cx="241369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994719" y="3167062"/>
            <a:ext cx="39935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988224" y="3167062"/>
            <a:ext cx="23113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9299525" y="3167062"/>
            <a:ext cx="23114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81025" y="3776662"/>
            <a:ext cx="241369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994719" y="3776662"/>
            <a:ext cx="39935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988224" y="3776662"/>
            <a:ext cx="23113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9299525" y="3776662"/>
            <a:ext cx="23114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81025" y="4386262"/>
            <a:ext cx="2413694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2994719" y="4386262"/>
            <a:ext cx="399350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6988224" y="4386262"/>
            <a:ext cx="23113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9299525" y="4386262"/>
            <a:ext cx="2311449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Model Comparison &amp; Conclusion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305251" y="2505612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                    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